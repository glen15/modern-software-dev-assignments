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이번 세션에서는 프롬프팅 기초에 대해 알아보겠습니다.
LLM의 성능을 향상시키는 3가지 핵심 프롬프팅 기법을 배우게 됩니다.
K-shot, Chain of Thought, Self-Consistency입니다.
각 기법의 원리를 이해하고, 직접 실습을 통해 적용해볼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세션의 학습 목표입니다.
첫째, K-shot 프롬프팅 - 예시를 통해 원하는 출력 형식을 학습시키는 기법입니다.
둘째, Chain of Thought - 복잡한 문제를 단계별로 풀도록 유도하는 기법입니다.
셋째, Self-Consistency - 여러 번 실행하고 결과를 종합하는 기법입니다.
이 세 가지를 배우고 나면, 프롬프트 엔지니어링의 기본기를 갖추게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기법, K-shot 프롬프팅입니다.
K는 예시의 개수를 의미합니다. 0개면 Zero-shot, 1개면 One-shot, 여러 개면 Few-shot이라고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K-shot 프롬프팅은 예시를 통해 LLM에게 원하는 패턴을 알려주는 기법입니다.
Zero-shot은 예시 없이 바로 질문하는 것입니다.
One-shot은 예시 1개를 보여주고 질문합니다.
Few-shot은 2~5개의 예시를 보여줍니다.
예시가 많을수록 LLM이 패턴을 더 잘 이해하지만, 토큰 비용이 증가합니다.
보통 3개 정도의 예시가 적절합니다.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Zero-shot과 Few-shot의 차이를 보여드리겠습니다.
왼쪽은 예시 없이 바로 번역을 요청한 경우입니다.
답은 맞을 수 있지만, 출력 형식이 일정하지 않습니다.
오른쪽은 예시를 먼저 보여준 경우입니다.
"cat은 chat, dog는 chien" 이런 패턴을 보여주면,
LLM이 같은 형식으로 응답합니다.
특히 정해진 형식으로 출력받고 싶을 때 효과적입니다.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K-shot이 특히 효과적인 상황입니다.
첫째, JSON이나 특정 형식으로 출력받고 싶을 때.
둘째, 여러 번 호출해도 같은 패턴으로 응답받고 싶을 때.
셋째, 텍스트 분류, 정보 추출, 형식 변환 작업.
실습에서는 텍스트에서 정보를 추출하여 정해진 형식으로 출력하는 예제를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기법, Chain of Thought입니다.
줄여서 CoT라고 부릅니다.
복잡한 문제를 단계별로 풀도록 유도하는 기법입니다.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of Thought는 말 그대로 "생각의 사슬"입니다.
사람도 복잡한 문제를 풀 때 단계별로 생각하죠.
LLM에게도 똑같이 단계별로 생각하라고 유도하면,
복잡한 추론 문제의 정확도가 크게 향상됩니다.
2022년 구글에서 발표한 논문에서 처음 제안되었고,
지금은 프롬프팅의 기본 기법으로 자리잡았습니다.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CoT가 효과적인 세 가지 이유입니다.
첫째, 복잡한 문제를 작은 단계로 분해합니다.
한 번에 어려운 문제를 풀기보다, 단계별로 나누면 실수가 줄어듭니다.
둘째, 중간 과정이 보여서 검증이 가능합니다.
어디서 틀렸는지 확인할 수 있죠.
셋째, 특히 수학과 논리 문제에서 정확도가 크게 향상됩니다.
연구에 따르면 GSM8K 벤치마크에서 2배 이상 성능이 올랐습니다.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구체적인 예시를 보겠습니다.
왼쪽은 CoT 없이 바로 답을 요청한 경우입니다.
LLM이 바로 43이라고 답하는데, 틀릴 확률이 높습니다.
오른쪽은 CoT를 적용한 경우입니다.
단계별로 풀이 과정을 보여주면서 최종 답에 도달합니다.
중간에 틀리면 어디서 틀렸는지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CoT를 유도하는 방법은 간단합니다.
프롬프트에 이런 문구를 추가하면 됩니다.
"단계별로 생각해보세요"
"Let's think step by step" - 이게 원논문에서 사용된 유명한 문구입니다.
"차근차근 풀어봅시다"
이 한 줄만 추가해도 복잡한 문제의 정확도가 크게 올라갑니다.
실습에서 직접 비교해보실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CoT가 특히 효과적인 상황들입니다.
수학 문제 - 계산이 여러 단계 필요한 문제
논리 추론 - 여러 조건을 고려해야 하는 문제
복잡한 의사결정 - 장단점을 비교해야 하는 문제
코드 디버깅 - 버그의 원인을 추적해야 하는 문제
반면, 단순한 번역이나 요약에는 굳이 필요하지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참고로 알아두실 점이 있습니다.
최신 AI 모델들은 CoT와 유사한 추론 능력을 이미 내장하고 있습니다.
GPT-5.2는 Extended Reasoning 모드가 있고,
Claude Opus 4.5는 Thinking 모드로 32k 토큰까지 추론할 수 있습니다.
Gemini 3 Pro도 내장 추론 기능이 있습니다.
그래서 실습에서 큰 차이가 안 보일 수도 있습니다.
하지만 원리를 이해하는 것이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그래도 CoT를 배워야 하는 이유가 있습니다.
첫째, 명시적으로 유도하면 더 일관된 결과를 얻을 수 있습니다.
내장 추론은 모델이 알아서 판단하지만, 명시하면 항상 적용됩니다.
둘째, 추론 과정을 우리가 제어할 수 있습니다.
"먼저 A를 계산하고, 그 다음 B를 계산하세요" 이런 식으로요.
셋째, GPT-3.5나 작은 모델을 쓸 때는 필수입니다.
비용을 아끼려면 작은 모델을 써야 하는데, 그때 CoT가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기법, Self-Consistency입니다.
같은 질문을 여러 번 하고, 결과를 종합하는 기법입니다.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Self-Consistency는 여러 번의 추론을 종합하는 기법입니다.
LLM은 같은 질문에도 매번 다른 답을 할 수 있습니다.
특히 temperature가 높으면 더 다양한 답이 나옵니다.
이 다양성을 활용해서, 여러 번 물어보고 가장 일관된 답을 선택합니다.
또는 여러 분석 결과를 종합해서 더 균형 잡힌 결론을 도출합니다.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작동 방식을 예로 들어 설명하겠습니다.
스타트업 아이디어를 평가한다고 가정해봅시다.
분석 1에서는 장점 A, B를 언급하고 성공 가능성 "중"
분석 2에서는 장점 A, C를 언급하고 성공 가능성 "상"
분석 3에서는 장점 B, C를 언급하고 성공 가능성 "중"
이렇게 여러 분석 결과를 모은 다음,
공통적으로 언급된 장점, 공통적인 단점, 의견이 갈린 부분을 종합합니다.
한 번의 분석보다 더 균형 잡힌 결론을 얻을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Self-Consistency가 효과적인 상황입니다.
첫째, 주관적 판단이 필요한 문제.
정답이 없는 문제에서 여러 관점을 종합하면 좋습니다.
둘째, 높은 신뢰도가 필요한 경우.
중요한 의사결정에서 한 번의 답변에 의존하기 어려울 때.
셋째, 다양한 관점이 필요한 분석.
아이디어 평가, 리스크 분석 등에서 유용합니다.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Self-Consistency의 트레이드오프입니다.
장점은 더 균형 잡힌 결론, 다양한 관점, 높은 신뢰도입니다.
단점은 API 호출이 여러 번 필요해서 비용이 증가합니다.
5번 실행하면 비용도 5배입니다.
처리 시간도 그만큼 늘어납니다.
따라서 모든 질문에 적용하기보다는,
정말 중요한 의사결정에 선택적으로 사용하는 것이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배운 내용을 정리하겠습니다.
K-shot: 원하는 형식이 있으면 예시를 보여주세요.
Chain of Thought: 복잡한 문제는 단계별로 생각하게 하세요.
Self-Consistency: 중요한 문제는 여러 번 시도하고 종합하세요.
이 세 가지가 프롬프팅의 기본이자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실습 시간입니다.
Web UI를 열고 각 탭에서 기법들을 직접 테스트해보세요.
K-shot 탭: 시스템 프롬프트에 예시를 추가해보세요.
CoT 탭: "단계별로 생각하세요" 문구를 추가해보세요.
Self-Consistency 탭: 여러 번 실행하고 종합 분석을 확인해보세요.
시스템 프롬프트 없이 vs 있을 때 결과를 비교해보시면,
각 기법의 효과를 직접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더 깊이 공부하고 싶으신 분들을 위한 참고 자료입니다.
Prompt Engineering Guide는 프롬프팅 기법을 체계적으로 정리한 웹사이트입니다.
한글 번역도 있으니 참고하세요.
Chain-of-Thought 논문은 2022년 구글에서 발표한 원논문입니다.
Self-Consistency 논문도 같은 해에 발표되었습니다.
이 논문들이 현재 프롬프팅 기법의 기초가 되었습니다.
감사합니다. 질문 있으시면 말씀해주세요.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promptingguide.ai/" TargetMode="External"/><Relationship Id="rId2" Type="http://schemas.openxmlformats.org/officeDocument/2006/relationships/hyperlink" Target="https://arxiv.org/abs/2201.11903" TargetMode="External"/><Relationship Id="rId3" Type="http://schemas.openxmlformats.org/officeDocument/2006/relationships/hyperlink" Target="https://arxiv.org/abs/2203.11171" TargetMode="External"/><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0B981"/>
          </a:solidFill>
          <a:ln/>
        </p:spPr>
      </p:sp>
      <p:sp>
        <p:nvSpPr>
          <p:cNvPr id="3" name="Shape 1"/>
          <p:cNvSpPr/>
          <p:nvPr/>
        </p:nvSpPr>
        <p:spPr>
          <a:xfrm>
            <a:off x="548640" y="365760"/>
            <a:ext cx="1828800" cy="36576"/>
          </a:xfrm>
          <a:prstGeom prst="rect">
            <a:avLst/>
          </a:prstGeom>
          <a:solidFill>
            <a:srgbClr val="10B981"/>
          </a:solidFill>
          <a:ln/>
        </p:spPr>
      </p:sp>
      <p:sp>
        <p:nvSpPr>
          <p:cNvPr id="4" name="Shape 2"/>
          <p:cNvSpPr/>
          <p:nvPr/>
        </p:nvSpPr>
        <p:spPr>
          <a:xfrm>
            <a:off x="548640" y="1280160"/>
            <a:ext cx="2011680" cy="365760"/>
          </a:xfrm>
          <a:prstGeom prst="roundRect">
            <a:avLst/>
          </a:prstGeom>
          <a:solidFill>
            <a:srgbClr val="1E293B"/>
          </a:solidFill>
          <a:ln w="12700">
            <a:solidFill>
              <a:srgbClr val="F59E0B"/>
            </a:solidFill>
            <a:prstDash val="solid"/>
          </a:ln>
        </p:spPr>
      </p:sp>
      <p:sp>
        <p:nvSpPr>
          <p:cNvPr id="5" name="Text 3"/>
          <p:cNvSpPr/>
          <p:nvPr/>
        </p:nvSpPr>
        <p:spPr>
          <a:xfrm>
            <a:off x="548640" y="1280160"/>
            <a:ext cx="2011680" cy="365760"/>
          </a:xfrm>
          <a:prstGeom prst="rect">
            <a:avLst/>
          </a:prstGeom>
          <a:noFill/>
          <a:ln/>
        </p:spPr>
        <p:txBody>
          <a:bodyPr wrap="square" rtlCol="0" anchor="ctr"/>
          <a:lstStyle/>
          <a:p>
            <a:pPr algn="ctr" indent="0" marL="0">
              <a:buNone/>
            </a:pPr>
            <a:r>
              <a:rPr lang="en-US" sz="1100" b="1" dirty="0">
                <a:solidFill>
                  <a:srgbClr val="F59E0B"/>
                </a:solidFill>
              </a:rPr>
              <a:t>AI WORKSHOP</a:t>
            </a:r>
            <a:endParaRPr lang="en-US" sz="1100" dirty="0"/>
          </a:p>
        </p:txBody>
      </p:sp>
      <p:sp>
        <p:nvSpPr>
          <p:cNvPr id="6" name="Text 4"/>
          <p:cNvSpPr/>
          <p:nvPr/>
        </p:nvSpPr>
        <p:spPr>
          <a:xfrm>
            <a:off x="548640" y="1828800"/>
            <a:ext cx="8046720" cy="731520"/>
          </a:xfrm>
          <a:prstGeom prst="rect">
            <a:avLst/>
          </a:prstGeom>
          <a:noFill/>
          <a:ln/>
        </p:spPr>
        <p:txBody>
          <a:bodyPr wrap="square" rtlCol="0" anchor="ctr"/>
          <a:lstStyle/>
          <a:p>
            <a:pPr indent="0" marL="0">
              <a:buNone/>
            </a:pPr>
            <a:r>
              <a:rPr lang="en-US" sz="4400" b="1" dirty="0">
                <a:solidFill>
                  <a:srgbClr val="FFFFFF"/>
                </a:solidFill>
              </a:rPr>
              <a:t>프롬프팅 기초</a:t>
            </a:r>
            <a:endParaRPr lang="en-US" sz="4400" dirty="0"/>
          </a:p>
        </p:txBody>
      </p:sp>
      <p:sp>
        <p:nvSpPr>
          <p:cNvPr id="7" name="Text 5"/>
          <p:cNvSpPr/>
          <p:nvPr/>
        </p:nvSpPr>
        <p:spPr>
          <a:xfrm>
            <a:off x="548640" y="2560320"/>
            <a:ext cx="8046720" cy="457200"/>
          </a:xfrm>
          <a:prstGeom prst="rect">
            <a:avLst/>
          </a:prstGeom>
          <a:noFill/>
          <a:ln/>
        </p:spPr>
        <p:txBody>
          <a:bodyPr wrap="square" rtlCol="0" anchor="ctr"/>
          <a:lstStyle/>
          <a:p>
            <a:pPr indent="0" marL="0">
              <a:buNone/>
            </a:pPr>
            <a:r>
              <a:rPr lang="en-US" sz="2000" dirty="0">
                <a:solidFill>
                  <a:srgbClr val="94A3B8"/>
                </a:solidFill>
              </a:rPr>
              <a:t>K-shot, Chain of Thought, Self-Consistency</a:t>
            </a:r>
            <a:endParaRPr lang="en-US" sz="2000" dirty="0"/>
          </a:p>
        </p:txBody>
      </p:sp>
      <p:sp>
        <p:nvSpPr>
          <p:cNvPr id="8" name="Shape 6"/>
          <p:cNvSpPr/>
          <p:nvPr/>
        </p:nvSpPr>
        <p:spPr>
          <a:xfrm>
            <a:off x="548640" y="3291840"/>
            <a:ext cx="2743200" cy="36576"/>
          </a:xfrm>
          <a:prstGeom prst="rect">
            <a:avLst/>
          </a:prstGeom>
          <a:solidFill>
            <a:srgbClr val="F59E0B"/>
          </a:solidFill>
          <a:ln/>
        </p:spPr>
      </p:sp>
      <p:sp>
        <p:nvSpPr>
          <p:cNvPr id="9" name="Text 7"/>
          <p:cNvSpPr/>
          <p:nvPr/>
        </p:nvSpPr>
        <p:spPr>
          <a:xfrm>
            <a:off x="548640" y="3840480"/>
            <a:ext cx="8046720" cy="320040"/>
          </a:xfrm>
          <a:prstGeom prst="rect">
            <a:avLst/>
          </a:prstGeom>
          <a:noFill/>
          <a:ln/>
        </p:spPr>
        <p:txBody>
          <a:bodyPr wrap="square" rtlCol="0" anchor="ctr"/>
          <a:lstStyle/>
          <a:p>
            <a:pPr indent="0" marL="0">
              <a:buNone/>
            </a:pPr>
            <a:r>
              <a:rPr lang="en-US" sz="1600" dirty="0">
                <a:solidFill>
                  <a:srgbClr val="FFFFFF"/>
                </a:solidFill>
              </a:rPr>
              <a:t>NXT Cloud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학습 목표</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K-shot 프롬프팅의 원리를 이해하고 적용할 수 있다</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Chain of Thought (CoT) 기법으로 복잡한 문제를 해결할 수 있다</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Self-Consistency 기법으로 답변의 신뢰도를 높일 수 있다</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01</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K-shot 프롬프팅</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예시를 통한 패턴 학습</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K-shot 프롬프팅이란?</a:t>
            </a:r>
            <a:endParaRPr lang="en-US" sz="3600" dirty="0"/>
          </a:p>
        </p:txBody>
      </p:sp>
      <p:sp>
        <p:nvSpPr>
          <p:cNvPr id="3" name="Text 1"/>
          <p:cNvSpPr/>
          <p:nvPr/>
        </p:nvSpPr>
        <p:spPr>
          <a:xfrm>
            <a:off x="548640" y="868680"/>
            <a:ext cx="8046720" cy="320040"/>
          </a:xfrm>
          <a:prstGeom prst="rect">
            <a:avLst/>
          </a:prstGeom>
          <a:noFill/>
          <a:ln/>
        </p:spPr>
        <p:txBody>
          <a:bodyPr wrap="square" rtlCol="0" anchor="ctr"/>
          <a:lstStyle/>
          <a:p>
            <a:pPr indent="0" marL="0">
              <a:buNone/>
            </a:pPr>
            <a:r>
              <a:rPr lang="en-US" sz="1600" dirty="0">
                <a:solidFill>
                  <a:srgbClr val="64748B"/>
                </a:solidFill>
              </a:rPr>
              <a:t>LLM에게 예시를 제공하여 원하는 출력 형식이나 패턴을 학습시키는 기법</a:t>
            </a:r>
            <a:endParaRPr lang="en-US" sz="1600" dirty="0"/>
          </a:p>
        </p:txBody>
      </p:sp>
      <p:sp>
        <p:nvSpPr>
          <p:cNvPr id="4" name="Shape 2"/>
          <p:cNvSpPr/>
          <p:nvPr/>
        </p:nvSpPr>
        <p:spPr>
          <a:xfrm>
            <a:off x="548640" y="1188720"/>
            <a:ext cx="8046720" cy="18288"/>
          </a:xfrm>
          <a:prstGeom prst="rect">
            <a:avLst/>
          </a:prstGeom>
          <a:solidFill>
            <a:srgbClr val="E5E7EB"/>
          </a:solidFill>
          <a:ln/>
        </p:spPr>
      </p:sp>
      <p:sp>
        <p:nvSpPr>
          <p:cNvPr id="5" name="Shape 3"/>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6" name="Shape 4"/>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7" name="Text 5"/>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0️⃣</a:t>
            </a:r>
            <a:endParaRPr lang="en-US" sz="2000" dirty="0"/>
          </a:p>
        </p:txBody>
      </p:sp>
      <p:sp>
        <p:nvSpPr>
          <p:cNvPr id="8" name="Text 6"/>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Zero-shot</a:t>
            </a:r>
            <a:endParaRPr lang="en-US" sz="1300" dirty="0"/>
          </a:p>
        </p:txBody>
      </p:sp>
      <p:sp>
        <p:nvSpPr>
          <p:cNvPr id="9" name="Text 7"/>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예시 없이 질문만</a:t>
            </a:r>
            <a:endParaRPr lang="en-US" sz="1100" dirty="0"/>
          </a:p>
        </p:txBody>
      </p:sp>
      <p:sp>
        <p:nvSpPr>
          <p:cNvPr id="10" name="Shape 8"/>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1" name="Shape 9"/>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2" name="Text 10"/>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1️⃣</a:t>
            </a:r>
            <a:endParaRPr lang="en-US" sz="2000" dirty="0"/>
          </a:p>
        </p:txBody>
      </p:sp>
      <p:sp>
        <p:nvSpPr>
          <p:cNvPr id="13" name="Text 11"/>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One-shot</a:t>
            </a:r>
            <a:endParaRPr lang="en-US" sz="1300" dirty="0"/>
          </a:p>
        </p:txBody>
      </p:sp>
      <p:sp>
        <p:nvSpPr>
          <p:cNvPr id="14" name="Text 12"/>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예시 1개 + 질문</a:t>
            </a:r>
            <a:endParaRPr lang="en-US" sz="1100" dirty="0"/>
          </a:p>
        </p:txBody>
      </p:sp>
      <p:sp>
        <p:nvSpPr>
          <p:cNvPr id="15" name="Shape 13"/>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6" name="Shape 14"/>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7" name="Text 15"/>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Few-shot</a:t>
            </a:r>
            <a:endParaRPr lang="en-US" sz="1300" dirty="0"/>
          </a:p>
        </p:txBody>
      </p:sp>
      <p:sp>
        <p:nvSpPr>
          <p:cNvPr id="19" name="Text 17"/>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예시 2~5개 + 질문</a:t>
            </a:r>
            <a:endParaRPr lang="en-US" sz="1100" dirty="0"/>
          </a:p>
        </p:txBody>
      </p:sp>
      <p:sp>
        <p:nvSpPr>
          <p:cNvPr id="20" name="Text 18"/>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Zero-shot vs Few-shot</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Zero-shot (예시 없음)</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입력: "happy"를 프랑스어로 번역해줘</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출력: heureux</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 불확실한 형식</a:t>
            </a:r>
            <a:endParaRPr lang="en-US" sz="1200" dirty="0"/>
          </a:p>
        </p:txBody>
      </p:sp>
      <p:sp>
        <p:nvSpPr>
          <p:cNvPr id="13" name="Shape 11"/>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4" name="Shape 12"/>
          <p:cNvSpPr/>
          <p:nvPr/>
        </p:nvSpPr>
        <p:spPr>
          <a:xfrm>
            <a:off x="4709160" y="1463040"/>
            <a:ext cx="3886200" cy="457200"/>
          </a:xfrm>
          <a:prstGeom prst="rect">
            <a:avLst/>
          </a:prstGeom>
          <a:solidFill>
            <a:srgbClr val="6366F1"/>
          </a:solidFill>
          <a:ln/>
        </p:spPr>
      </p:sp>
      <p:sp>
        <p:nvSpPr>
          <p:cNvPr id="15" name="Text 13"/>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Few-shot (예시 있음)</a:t>
            </a:r>
            <a:endParaRPr lang="en-US" sz="1600" dirty="0"/>
          </a:p>
        </p:txBody>
      </p:sp>
      <p:sp>
        <p:nvSpPr>
          <p:cNvPr id="16" name="Text 14"/>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7" name="Text 15"/>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입력: cat→chat, dog→chien, happy→?</a:t>
            </a:r>
            <a:endParaRPr lang="en-US" sz="1200" dirty="0"/>
          </a:p>
        </p:txBody>
      </p:sp>
      <p:sp>
        <p:nvSpPr>
          <p:cNvPr id="18" name="Text 16"/>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9" name="Text 17"/>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출력: heureux</a:t>
            </a:r>
            <a:endParaRPr lang="en-US" sz="1200" dirty="0"/>
          </a:p>
        </p:txBody>
      </p:sp>
      <p:sp>
        <p:nvSpPr>
          <p:cNvPr id="20" name="Text 18"/>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1" name="Text 19"/>
          <p:cNvSpPr/>
          <p:nvPr/>
        </p:nvSpPr>
        <p:spPr>
          <a:xfrm>
            <a:off x="5166360" y="2834640"/>
            <a:ext cx="3246120" cy="411480"/>
          </a:xfrm>
          <a:prstGeom prst="rect">
            <a:avLst/>
          </a:prstGeom>
          <a:noFill/>
          <a:ln/>
        </p:spPr>
        <p:txBody>
          <a:bodyPr wrap="square" rtlCol="0" anchor="ctr"/>
          <a:lstStyle/>
          <a:p>
            <a:pPr indent="0" marL="0">
              <a:buNone/>
            </a:pPr>
            <a:r>
              <a:rPr lang="en-US" sz="1200" dirty="0">
                <a:solidFill>
                  <a:srgbClr val="334155"/>
                </a:solidFill>
              </a:rPr>
              <a:t>→ 일관된 형식</a:t>
            </a:r>
            <a:endParaRPr lang="en-US" sz="1200" dirty="0"/>
          </a:p>
        </p:txBody>
      </p:sp>
      <p:sp>
        <p:nvSpPr>
          <p:cNvPr id="22" name="Text 20"/>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K-shot 적용 시점</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특정 출력 형식이 필요할 때</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일관된 패턴으로 응답받고 싶을 때</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분류, 추출, 변환 작업</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02</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Chain of Thought</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단계별 추론 유도</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Chain of Thought란?</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Text 2"/>
          <p:cNvSpPr/>
          <p:nvPr/>
        </p:nvSpPr>
        <p:spPr>
          <a:xfrm>
            <a:off x="548640" y="1463040"/>
            <a:ext cx="8046720" cy="365760"/>
          </a:xfrm>
          <a:prstGeom prst="rect">
            <a:avLst/>
          </a:prstGeom>
          <a:noFill/>
          <a:ln/>
        </p:spPr>
        <p:txBody>
          <a:bodyPr wrap="square" rtlCol="0" anchor="t"/>
          <a:lstStyle/>
          <a:p>
            <a:pPr indent="0" marL="0">
              <a:buNone/>
            </a:pPr>
            <a:r>
              <a:rPr lang="en-US" sz="1400" dirty="0">
                <a:solidFill>
                  <a:srgbClr val="334155"/>
                </a:solidFill>
              </a:rPr>
              <a:t>LLM에게 단계별로 생각하도록 유도하여</a:t>
            </a:r>
            <a:endParaRPr lang="en-US" sz="1400" dirty="0"/>
          </a:p>
          <a:p>
            <a:pPr indent="0" marL="0">
              <a:buNone/>
            </a:pPr>
            <a:r>
              <a:rPr lang="en-US" sz="1400" dirty="0">
                <a:solidFill>
                  <a:srgbClr val="334155"/>
                </a:solidFill>
              </a:rPr>
              <a:t>복잡한 추론 문제를 해결하는 기법</a:t>
            </a:r>
            <a:endParaRPr lang="en-US" sz="1400" dirty="0"/>
          </a:p>
        </p:txBody>
      </p:sp>
      <p:sp>
        <p:nvSpPr>
          <p:cNvPr id="5" name="Text 3"/>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CoT가 효과적인 이유</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문제 분해</a:t>
            </a:r>
            <a:endParaRPr lang="en-US" sz="1300" dirty="0"/>
          </a:p>
        </p:txBody>
      </p:sp>
      <p:sp>
        <p:nvSpPr>
          <p:cNvPr id="8" name="Text 6"/>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복잡한 문제를 작은 단계로</a:t>
            </a:r>
            <a:endParaRPr lang="en-US" sz="1100" dirty="0"/>
          </a:p>
        </p:txBody>
      </p:sp>
      <p:sp>
        <p:nvSpPr>
          <p:cNvPr id="9" name="Shape 7"/>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검증 가능</a:t>
            </a:r>
            <a:endParaRPr lang="en-US" sz="1300" dirty="0"/>
          </a:p>
        </p:txBody>
      </p:sp>
      <p:sp>
        <p:nvSpPr>
          <p:cNvPr id="13" name="Text 11"/>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중간 과정이 보임</a:t>
            </a:r>
            <a:endParaRPr lang="en-US" sz="1100" dirty="0"/>
          </a:p>
        </p:txBody>
      </p:sp>
      <p:sp>
        <p:nvSpPr>
          <p:cNvPr id="14" name="Shape 12"/>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정확도 향상</a:t>
            </a:r>
            <a:endParaRPr lang="en-US" sz="1300" dirty="0"/>
          </a:p>
        </p:txBody>
      </p:sp>
      <p:sp>
        <p:nvSpPr>
          <p:cNvPr id="18" name="Text 16"/>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수학, 논리 문제에서</a:t>
            </a:r>
            <a:endParaRPr lang="en-US" sz="1100" dirty="0"/>
          </a:p>
        </p:txBody>
      </p:sp>
      <p:sp>
        <p:nvSpPr>
          <p:cNvPr id="19" name="Text 1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CoT 예시</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CoT 없이</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Q: 복잡한 수학 문제</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A: 43</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 바로 답, 틀릴 확률 높음</a:t>
            </a:r>
            <a:endParaRPr lang="en-US" sz="1200" dirty="0"/>
          </a:p>
        </p:txBody>
      </p:sp>
      <p:sp>
        <p:nvSpPr>
          <p:cNvPr id="13" name="Shape 11"/>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4" name="Shape 12"/>
          <p:cNvSpPr/>
          <p:nvPr/>
        </p:nvSpPr>
        <p:spPr>
          <a:xfrm>
            <a:off x="4709160" y="1463040"/>
            <a:ext cx="3886200" cy="457200"/>
          </a:xfrm>
          <a:prstGeom prst="rect">
            <a:avLst/>
          </a:prstGeom>
          <a:solidFill>
            <a:srgbClr val="6366F1"/>
          </a:solidFill>
          <a:ln/>
        </p:spPr>
      </p:sp>
      <p:sp>
        <p:nvSpPr>
          <p:cNvPr id="15" name="Text 13"/>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CoT 적용</a:t>
            </a:r>
            <a:endParaRPr lang="en-US" sz="1600" dirty="0"/>
          </a:p>
        </p:txBody>
      </p:sp>
      <p:sp>
        <p:nvSpPr>
          <p:cNvPr id="16" name="Text 14"/>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7" name="Text 15"/>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Q: 복잡한 수학 문제</a:t>
            </a:r>
            <a:endParaRPr lang="en-US" sz="1200" dirty="0"/>
          </a:p>
        </p:txBody>
      </p:sp>
      <p:sp>
        <p:nvSpPr>
          <p:cNvPr id="18" name="Text 16"/>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9" name="Text 17"/>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A: 1단계→2단계→3단계→43</a:t>
            </a:r>
            <a:endParaRPr lang="en-US" sz="1200" dirty="0"/>
          </a:p>
        </p:txBody>
      </p:sp>
      <p:sp>
        <p:nvSpPr>
          <p:cNvPr id="20" name="Text 18"/>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1" name="Text 19"/>
          <p:cNvSpPr/>
          <p:nvPr/>
        </p:nvSpPr>
        <p:spPr>
          <a:xfrm>
            <a:off x="5166360" y="2834640"/>
            <a:ext cx="3246120" cy="411480"/>
          </a:xfrm>
          <a:prstGeom prst="rect">
            <a:avLst/>
          </a:prstGeom>
          <a:noFill/>
          <a:ln/>
        </p:spPr>
        <p:txBody>
          <a:bodyPr wrap="square" rtlCol="0" anchor="ctr"/>
          <a:lstStyle/>
          <a:p>
            <a:pPr indent="0" marL="0">
              <a:buNone/>
            </a:pPr>
            <a:r>
              <a:rPr lang="en-US" sz="1200" dirty="0">
                <a:solidFill>
                  <a:srgbClr val="334155"/>
                </a:solidFill>
              </a:rPr>
              <a:t>→ 검증 가능, 정확도 높음</a:t>
            </a:r>
            <a:endParaRPr lang="en-US" sz="1200" dirty="0"/>
          </a:p>
        </p:txBody>
      </p:sp>
      <p:sp>
        <p:nvSpPr>
          <p:cNvPr id="22" name="Text 20"/>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CoT 유도 방법</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"단계별로 생각해보세요"</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"Let's think step by step"</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"차근차근 풀어봅시다"</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CoT 적용 시점</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18745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1600200" cy="320040"/>
          </a:xfrm>
          <a:prstGeom prst="rect">
            <a:avLst/>
          </a:prstGeom>
          <a:noFill/>
          <a:ln/>
        </p:spPr>
        <p:txBody>
          <a:bodyPr wrap="square" rtlCol="0" anchor="ctr"/>
          <a:lstStyle/>
          <a:p>
            <a:pPr indent="0" marL="0">
              <a:buNone/>
            </a:pPr>
            <a:r>
              <a:rPr lang="en-US" sz="1300" b="1" dirty="0">
                <a:solidFill>
                  <a:srgbClr val="1E293B"/>
                </a:solidFill>
              </a:rPr>
              <a:t>수학 문제</a:t>
            </a:r>
            <a:endParaRPr lang="en-US" sz="1300" dirty="0"/>
          </a:p>
        </p:txBody>
      </p:sp>
      <p:sp>
        <p:nvSpPr>
          <p:cNvPr id="8" name="Shape 6"/>
          <p:cNvSpPr/>
          <p:nvPr/>
        </p:nvSpPr>
        <p:spPr>
          <a:xfrm>
            <a:off x="2606040" y="1463040"/>
            <a:ext cx="18745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9" name="Shape 7"/>
          <p:cNvSpPr/>
          <p:nvPr/>
        </p:nvSpPr>
        <p:spPr>
          <a:xfrm>
            <a:off x="2743200" y="1691640"/>
            <a:ext cx="502920" cy="502920"/>
          </a:xfrm>
          <a:prstGeom prst="ellipse">
            <a:avLst/>
          </a:prstGeom>
          <a:solidFill>
            <a:srgbClr val="6366F1">
              <a:alpha val="15000"/>
            </a:srgbClr>
          </a:solidFill>
          <a:ln w="19050">
            <a:solidFill>
              <a:srgbClr val="6366F1"/>
            </a:solidFill>
            <a:prstDash val="solid"/>
          </a:ln>
        </p:spPr>
      </p:sp>
      <p:sp>
        <p:nvSpPr>
          <p:cNvPr id="10" name="Text 8"/>
          <p:cNvSpPr/>
          <p:nvPr/>
        </p:nvSpPr>
        <p:spPr>
          <a:xfrm>
            <a:off x="2743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2743200" y="2240280"/>
            <a:ext cx="1600200" cy="320040"/>
          </a:xfrm>
          <a:prstGeom prst="rect">
            <a:avLst/>
          </a:prstGeom>
          <a:noFill/>
          <a:ln/>
        </p:spPr>
        <p:txBody>
          <a:bodyPr wrap="square" rtlCol="0" anchor="ctr"/>
          <a:lstStyle/>
          <a:p>
            <a:pPr indent="0" marL="0">
              <a:buNone/>
            </a:pPr>
            <a:r>
              <a:rPr lang="en-US" sz="1300" b="1" dirty="0">
                <a:solidFill>
                  <a:srgbClr val="1E293B"/>
                </a:solidFill>
              </a:rPr>
              <a:t>논리 추론</a:t>
            </a:r>
            <a:endParaRPr lang="en-US" sz="1300" dirty="0"/>
          </a:p>
        </p:txBody>
      </p:sp>
      <p:sp>
        <p:nvSpPr>
          <p:cNvPr id="12" name="Shape 10"/>
          <p:cNvSpPr/>
          <p:nvPr/>
        </p:nvSpPr>
        <p:spPr>
          <a:xfrm>
            <a:off x="4663440" y="1463040"/>
            <a:ext cx="18745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3" name="Shape 11"/>
          <p:cNvSpPr/>
          <p:nvPr/>
        </p:nvSpPr>
        <p:spPr>
          <a:xfrm>
            <a:off x="4800600" y="1691640"/>
            <a:ext cx="502920" cy="502920"/>
          </a:xfrm>
          <a:prstGeom prst="ellipse">
            <a:avLst/>
          </a:prstGeom>
          <a:solidFill>
            <a:srgbClr val="F59E0B">
              <a:alpha val="15000"/>
            </a:srgbClr>
          </a:solidFill>
          <a:ln w="19050">
            <a:solidFill>
              <a:srgbClr val="F59E0B"/>
            </a:solidFill>
            <a:prstDash val="solid"/>
          </a:ln>
        </p:spPr>
      </p:sp>
      <p:sp>
        <p:nvSpPr>
          <p:cNvPr id="14" name="Text 12"/>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4800600" y="2240280"/>
            <a:ext cx="1600200" cy="320040"/>
          </a:xfrm>
          <a:prstGeom prst="rect">
            <a:avLst/>
          </a:prstGeom>
          <a:noFill/>
          <a:ln/>
        </p:spPr>
        <p:txBody>
          <a:bodyPr wrap="square" rtlCol="0" anchor="ctr"/>
          <a:lstStyle/>
          <a:p>
            <a:pPr indent="0" marL="0">
              <a:buNone/>
            </a:pPr>
            <a:r>
              <a:rPr lang="en-US" sz="1300" b="1" dirty="0">
                <a:solidFill>
                  <a:srgbClr val="1E293B"/>
                </a:solidFill>
              </a:rPr>
              <a:t>복잡한 의사결정</a:t>
            </a:r>
            <a:endParaRPr lang="en-US" sz="1300" dirty="0"/>
          </a:p>
        </p:txBody>
      </p:sp>
      <p:sp>
        <p:nvSpPr>
          <p:cNvPr id="16" name="Shape 14"/>
          <p:cNvSpPr/>
          <p:nvPr/>
        </p:nvSpPr>
        <p:spPr>
          <a:xfrm>
            <a:off x="6720840" y="1463040"/>
            <a:ext cx="18745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7" name="Shape 15"/>
          <p:cNvSpPr/>
          <p:nvPr/>
        </p:nvSpPr>
        <p:spPr>
          <a:xfrm>
            <a:off x="6858000" y="1691640"/>
            <a:ext cx="502920" cy="502920"/>
          </a:xfrm>
          <a:prstGeom prst="ellipse">
            <a:avLst/>
          </a:prstGeom>
          <a:solidFill>
            <a:srgbClr val="EC4899">
              <a:alpha val="15000"/>
            </a:srgbClr>
          </a:solidFill>
          <a:ln w="19050">
            <a:solidFill>
              <a:srgbClr val="EC4899"/>
            </a:solidFill>
            <a:prstDash val="solid"/>
          </a:ln>
        </p:spPr>
      </p:sp>
      <p:sp>
        <p:nvSpPr>
          <p:cNvPr id="18" name="Text 16"/>
          <p:cNvSpPr/>
          <p:nvPr/>
        </p:nvSpPr>
        <p:spPr>
          <a:xfrm>
            <a:off x="6858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6858000" y="2240280"/>
            <a:ext cx="1600200" cy="320040"/>
          </a:xfrm>
          <a:prstGeom prst="rect">
            <a:avLst/>
          </a:prstGeom>
          <a:noFill/>
          <a:ln/>
        </p:spPr>
        <p:txBody>
          <a:bodyPr wrap="square" rtlCol="0" anchor="ctr"/>
          <a:lstStyle/>
          <a:p>
            <a:pPr indent="0" marL="0">
              <a:buNone/>
            </a:pPr>
            <a:r>
              <a:rPr lang="en-US" sz="1300" b="1" dirty="0">
                <a:solidFill>
                  <a:srgbClr val="1E293B"/>
                </a:solidFill>
              </a:rPr>
              <a:t>코드 디버깅</a:t>
            </a:r>
            <a:endParaRPr lang="en-US" sz="1300" dirty="0"/>
          </a:p>
        </p:txBody>
      </p:sp>
      <p:sp>
        <p:nvSpPr>
          <p:cNvPr id="20" name="Text 18"/>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참고: 최신 모델의 내장 추론</a:t>
            </a:r>
            <a:endParaRPr lang="en-US" sz="3600" dirty="0"/>
          </a:p>
        </p:txBody>
      </p:sp>
      <p:sp>
        <p:nvSpPr>
          <p:cNvPr id="3" name="Text 1"/>
          <p:cNvSpPr/>
          <p:nvPr/>
        </p:nvSpPr>
        <p:spPr>
          <a:xfrm>
            <a:off x="548640" y="868680"/>
            <a:ext cx="8046720" cy="320040"/>
          </a:xfrm>
          <a:prstGeom prst="rect">
            <a:avLst/>
          </a:prstGeom>
          <a:noFill/>
          <a:ln/>
        </p:spPr>
        <p:txBody>
          <a:bodyPr wrap="square" rtlCol="0" anchor="ctr"/>
          <a:lstStyle/>
          <a:p>
            <a:pPr indent="0" marL="0">
              <a:buNone/>
            </a:pPr>
            <a:r>
              <a:rPr lang="en-US" sz="1600" dirty="0">
                <a:solidFill>
                  <a:srgbClr val="64748B"/>
                </a:solidFill>
              </a:rPr>
              <a:t>최신 AI 모델들은 CoT와 유사한 추론 능력을 내장</a:t>
            </a:r>
            <a:endParaRPr lang="en-US" sz="1600" dirty="0"/>
          </a:p>
        </p:txBody>
      </p:sp>
      <p:sp>
        <p:nvSpPr>
          <p:cNvPr id="4" name="Shape 2"/>
          <p:cNvSpPr/>
          <p:nvPr/>
        </p:nvSpPr>
        <p:spPr>
          <a:xfrm>
            <a:off x="548640" y="1188720"/>
            <a:ext cx="8046720" cy="18288"/>
          </a:xfrm>
          <a:prstGeom prst="rect">
            <a:avLst/>
          </a:prstGeom>
          <a:solidFill>
            <a:srgbClr val="E5E7EB"/>
          </a:solidFill>
          <a:ln/>
        </p:spPr>
      </p:sp>
      <p:sp>
        <p:nvSpPr>
          <p:cNvPr id="5" name="Shape 3"/>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6" name="Shape 4"/>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7" name="Text 5"/>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GPT-5.2</a:t>
            </a:r>
            <a:endParaRPr lang="en-US" sz="1300" dirty="0"/>
          </a:p>
        </p:txBody>
      </p:sp>
      <p:sp>
        <p:nvSpPr>
          <p:cNvPr id="9" name="Text 7"/>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Extended Reasoning 모드</a:t>
            </a:r>
            <a:endParaRPr lang="en-US" sz="1100" dirty="0"/>
          </a:p>
        </p:txBody>
      </p:sp>
      <p:sp>
        <p:nvSpPr>
          <p:cNvPr id="10" name="Shape 8"/>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1" name="Shape 9"/>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2" name="Text 10"/>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Claude Opus 4.5</a:t>
            </a:r>
            <a:endParaRPr lang="en-US" sz="1300" dirty="0"/>
          </a:p>
        </p:txBody>
      </p:sp>
      <p:sp>
        <p:nvSpPr>
          <p:cNvPr id="14" name="Text 12"/>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Thinking 모드 (32k)</a:t>
            </a:r>
            <a:endParaRPr lang="en-US" sz="1100" dirty="0"/>
          </a:p>
        </p:txBody>
      </p:sp>
      <p:sp>
        <p:nvSpPr>
          <p:cNvPr id="15" name="Shape 13"/>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6" name="Shape 14"/>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7" name="Text 15"/>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Gemini 3 Pro</a:t>
            </a:r>
            <a:endParaRPr lang="en-US" sz="1300" dirty="0"/>
          </a:p>
        </p:txBody>
      </p:sp>
      <p:sp>
        <p:nvSpPr>
          <p:cNvPr id="19" name="Text 17"/>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내장 추론 기능</a:t>
            </a:r>
            <a:endParaRPr lang="en-US" sz="1100" dirty="0"/>
          </a:p>
        </p:txBody>
      </p:sp>
      <p:sp>
        <p:nvSpPr>
          <p:cNvPr id="20" name="Text 18"/>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그래도 배워야 하는 이유</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명시적 유도 시 더 일관된 결과</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추론 과정 제어 가능</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비용 효율적인 모델에서 필수</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03</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Self-Consistency</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여러 번 추론, 종합 분석</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Self-Consistency란?</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Text 2"/>
          <p:cNvSpPr/>
          <p:nvPr/>
        </p:nvSpPr>
        <p:spPr>
          <a:xfrm>
            <a:off x="548640" y="1463040"/>
            <a:ext cx="8046720" cy="533400"/>
          </a:xfrm>
          <a:prstGeom prst="rect">
            <a:avLst/>
          </a:prstGeom>
          <a:noFill/>
          <a:ln/>
        </p:spPr>
        <p:txBody>
          <a:bodyPr wrap="square" rtlCol="0" anchor="t"/>
          <a:lstStyle/>
          <a:p>
            <a:pPr indent="0" marL="0">
              <a:buNone/>
            </a:pPr>
            <a:r>
              <a:rPr lang="en-US" sz="1400" dirty="0">
                <a:solidFill>
                  <a:srgbClr val="334155"/>
                </a:solidFill>
              </a:rPr>
              <a:t>같은 문제에 대해 여러 번 추론하고,</a:t>
            </a:r>
            <a:endParaRPr lang="en-US" sz="1400" dirty="0"/>
          </a:p>
          <a:p>
            <a:pPr indent="0" marL="0">
              <a:buNone/>
            </a:pPr>
            <a:r>
              <a:rPr lang="en-US" sz="1400" dirty="0">
                <a:solidFill>
                  <a:srgbClr val="334155"/>
                </a:solidFill>
              </a:rPr>
              <a:t>결과를 종합 분석하여 신뢰도 높은 답을 도출하는 기법</a:t>
            </a:r>
            <a:endParaRPr lang="en-US" sz="1400" dirty="0"/>
          </a:p>
        </p:txBody>
      </p:sp>
      <p:sp>
        <p:nvSpPr>
          <p:cNvPr id="5" name="Text 3"/>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Self-Consistency 작동 방식</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분석 1: 장점 A, B / 단점 X → 성공 가능성: 중</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분석 2: 장점 A, C / 단점 Y → 성공 가능성: 상</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분석 3: 장점 B, C / 단점 X, Z → 성공 가능성: 중</a:t>
            </a:r>
            <a:endParaRPr lang="en-US" sz="1300" dirty="0"/>
          </a:p>
        </p:txBody>
      </p:sp>
      <p:sp>
        <p:nvSpPr>
          <p:cNvPr id="16" name="Shape 14"/>
          <p:cNvSpPr/>
          <p:nvPr/>
        </p:nvSpPr>
        <p:spPr>
          <a:xfrm>
            <a:off x="548640" y="3657600"/>
            <a:ext cx="8046720" cy="594360"/>
          </a:xfrm>
          <a:prstGeom prst="roundRect">
            <a:avLst/>
          </a:prstGeom>
          <a:solidFill>
            <a:srgbClr val="F9FAFB"/>
          </a:solidFill>
          <a:ln w="6350">
            <a:solidFill>
              <a:srgbClr val="E5E7EB"/>
            </a:solidFill>
            <a:prstDash val="solid"/>
          </a:ln>
        </p:spPr>
      </p:sp>
      <p:sp>
        <p:nvSpPr>
          <p:cNvPr id="17" name="Shape 15"/>
          <p:cNvSpPr/>
          <p:nvPr/>
        </p:nvSpPr>
        <p:spPr>
          <a:xfrm>
            <a:off x="548640" y="3657600"/>
            <a:ext cx="73152" cy="594360"/>
          </a:xfrm>
          <a:prstGeom prst="rect">
            <a:avLst/>
          </a:prstGeom>
          <a:solidFill>
            <a:srgbClr val="EC4899"/>
          </a:solidFill>
          <a:ln/>
        </p:spPr>
      </p:sp>
      <p:sp>
        <p:nvSpPr>
          <p:cNvPr id="18" name="Text 16"/>
          <p:cNvSpPr/>
          <p:nvPr/>
        </p:nvSpPr>
        <p:spPr>
          <a:xfrm>
            <a:off x="731520" y="365760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9" name="Text 17"/>
          <p:cNvSpPr/>
          <p:nvPr/>
        </p:nvSpPr>
        <p:spPr>
          <a:xfrm>
            <a:off x="1097280" y="3657600"/>
            <a:ext cx="7315200" cy="594360"/>
          </a:xfrm>
          <a:prstGeom prst="rect">
            <a:avLst/>
          </a:prstGeom>
          <a:noFill/>
          <a:ln/>
        </p:spPr>
        <p:txBody>
          <a:bodyPr wrap="square" rtlCol="0" anchor="ctr"/>
          <a:lstStyle/>
          <a:p>
            <a:pPr indent="0" marL="0">
              <a:buNone/>
            </a:pPr>
            <a:r>
              <a:rPr lang="en-US" sz="1300" dirty="0">
                <a:solidFill>
                  <a:srgbClr val="334155"/>
                </a:solidFill>
              </a:rPr>
              <a:t>→ 종합 분석: 공통 장점, 공통 단점, 최종 평가</a:t>
            </a:r>
            <a:endParaRPr lang="en-US" sz="1300" dirty="0"/>
          </a:p>
        </p:txBody>
      </p:sp>
      <p:sp>
        <p:nvSpPr>
          <p:cNvPr id="20" name="Text 18"/>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Self-Consistency 적용 시점</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주관적 판단이 필요한 문제</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높은 신뢰도가 필요한 경우</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다양한 관점이 필요한 분석</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Self-Consistency 트레이드오프</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장점</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더 균형 잡힌 결론</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다양한 관점 확보</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신뢰도 향상</a:t>
            </a:r>
            <a:endParaRPr lang="en-US" sz="1200" dirty="0"/>
          </a:p>
        </p:txBody>
      </p:sp>
      <p:sp>
        <p:nvSpPr>
          <p:cNvPr id="13" name="Shape 11"/>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4" name="Shape 12"/>
          <p:cNvSpPr/>
          <p:nvPr/>
        </p:nvSpPr>
        <p:spPr>
          <a:xfrm>
            <a:off x="4709160" y="1463040"/>
            <a:ext cx="3886200" cy="457200"/>
          </a:xfrm>
          <a:prstGeom prst="rect">
            <a:avLst/>
          </a:prstGeom>
          <a:solidFill>
            <a:srgbClr val="6366F1"/>
          </a:solidFill>
          <a:ln/>
        </p:spPr>
      </p:sp>
      <p:sp>
        <p:nvSpPr>
          <p:cNvPr id="15" name="Text 13"/>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단점</a:t>
            </a:r>
            <a:endParaRPr lang="en-US" sz="1600" dirty="0"/>
          </a:p>
        </p:txBody>
      </p:sp>
      <p:sp>
        <p:nvSpPr>
          <p:cNvPr id="16" name="Text 14"/>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7" name="Text 15"/>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API 호출 비용 증가</a:t>
            </a:r>
            <a:endParaRPr lang="en-US" sz="1200" dirty="0"/>
          </a:p>
        </p:txBody>
      </p:sp>
      <p:sp>
        <p:nvSpPr>
          <p:cNvPr id="18" name="Text 16"/>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9" name="Text 17"/>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처리 시간 증가</a:t>
            </a:r>
            <a:endParaRPr lang="en-US" sz="1200" dirty="0"/>
          </a:p>
        </p:txBody>
      </p:sp>
      <p:sp>
        <p:nvSpPr>
          <p:cNvPr id="20" name="Text 18"/>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1" name="Text 19"/>
          <p:cNvSpPr/>
          <p:nvPr/>
        </p:nvSpPr>
        <p:spPr>
          <a:xfrm>
            <a:off x="5166360" y="2834640"/>
            <a:ext cx="3246120" cy="411480"/>
          </a:xfrm>
          <a:prstGeom prst="rect">
            <a:avLst/>
          </a:prstGeom>
          <a:noFill/>
          <a:ln/>
        </p:spPr>
        <p:txBody>
          <a:bodyPr wrap="square" rtlCol="0" anchor="ctr"/>
          <a:lstStyle/>
          <a:p>
            <a:pPr indent="0" marL="0">
              <a:buNone/>
            </a:pPr>
            <a:endParaRPr lang="en-US" sz="1200" dirty="0"/>
          </a:p>
        </p:txBody>
      </p:sp>
      <p:sp>
        <p:nvSpPr>
          <p:cNvPr id="22" name="Text 20"/>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200" b="1" dirty="0">
                <a:solidFill>
                  <a:srgbClr val="10B981"/>
                </a:solidFill>
              </a:rPr>
              <a:t>핵심 정리</a:t>
            </a:r>
            <a:endParaRPr lang="en-US" sz="1200" dirty="0"/>
          </a:p>
        </p:txBody>
      </p:sp>
      <p:sp>
        <p:nvSpPr>
          <p:cNvPr id="3" name="Text 1"/>
          <p:cNvSpPr/>
          <p:nvPr/>
        </p:nvSpPr>
        <p:spPr>
          <a:xfrm>
            <a:off x="548640" y="914400"/>
            <a:ext cx="8046720" cy="1097280"/>
          </a:xfrm>
          <a:prstGeom prst="rect">
            <a:avLst/>
          </a:prstGeom>
          <a:noFill/>
          <a:ln/>
        </p:spPr>
        <p:txBody>
          <a:bodyPr wrap="square" rtlCol="0" anchor="ctr"/>
          <a:lstStyle/>
          <a:p>
            <a:pPr indent="0" marL="0">
              <a:buNone/>
            </a:pPr>
            <a:r>
              <a:rPr lang="en-US" sz="2800" b="1" dirty="0">
                <a:solidFill>
                  <a:srgbClr val="1E293B"/>
                </a:solidFill>
              </a:rPr>
              <a:t>프롬프팅 3대 기법</a:t>
            </a:r>
            <a:endParaRPr lang="en-US" sz="2800" dirty="0"/>
          </a:p>
        </p:txBody>
      </p:sp>
      <p:sp>
        <p:nvSpPr>
          <p:cNvPr id="4" name="Shape 2"/>
          <p:cNvSpPr/>
          <p:nvPr/>
        </p:nvSpPr>
        <p:spPr>
          <a:xfrm>
            <a:off x="548640" y="2103120"/>
            <a:ext cx="2286000" cy="36576"/>
          </a:xfrm>
          <a:prstGeom prst="rect">
            <a:avLst/>
          </a:prstGeom>
          <a:solidFill>
            <a:srgbClr val="10B981"/>
          </a:solidFill>
          <a:ln/>
        </p:spPr>
      </p:sp>
      <p:sp>
        <p:nvSpPr>
          <p:cNvPr id="5" name="Shape 3"/>
          <p:cNvSpPr/>
          <p:nvPr/>
        </p:nvSpPr>
        <p:spPr>
          <a:xfrm>
            <a:off x="548640" y="237744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6" name="Shape 4"/>
          <p:cNvSpPr/>
          <p:nvPr/>
        </p:nvSpPr>
        <p:spPr>
          <a:xfrm>
            <a:off x="548640" y="2377440"/>
            <a:ext cx="91440" cy="640080"/>
          </a:xfrm>
          <a:prstGeom prst="rect">
            <a:avLst/>
          </a:prstGeom>
          <a:solidFill>
            <a:srgbClr val="10B981"/>
          </a:solidFill>
          <a:ln/>
        </p:spPr>
      </p:sp>
      <p:sp>
        <p:nvSpPr>
          <p:cNvPr id="7" name="Text 5"/>
          <p:cNvSpPr/>
          <p:nvPr/>
        </p:nvSpPr>
        <p:spPr>
          <a:xfrm>
            <a:off x="777240" y="237744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8" name="Text 6"/>
          <p:cNvSpPr/>
          <p:nvPr/>
        </p:nvSpPr>
        <p:spPr>
          <a:xfrm>
            <a:off x="1234440" y="2377440"/>
            <a:ext cx="7132320" cy="640080"/>
          </a:xfrm>
          <a:prstGeom prst="rect">
            <a:avLst/>
          </a:prstGeom>
          <a:noFill/>
          <a:ln/>
        </p:spPr>
        <p:txBody>
          <a:bodyPr wrap="square" rtlCol="0" anchor="ctr"/>
          <a:lstStyle/>
          <a:p>
            <a:pPr indent="0" marL="0">
              <a:buNone/>
            </a:pPr>
            <a:r>
              <a:rPr lang="en-US" sz="1400" dirty="0">
                <a:solidFill>
                  <a:srgbClr val="334155"/>
                </a:solidFill>
              </a:rPr>
              <a:t>K-shot: 예시를 보여줘라</a:t>
            </a:r>
            <a:endParaRPr lang="en-US" sz="1400" dirty="0"/>
          </a:p>
        </p:txBody>
      </p:sp>
      <p:sp>
        <p:nvSpPr>
          <p:cNvPr id="9" name="Shape 7"/>
          <p:cNvSpPr/>
          <p:nvPr/>
        </p:nvSpPr>
        <p:spPr>
          <a:xfrm>
            <a:off x="548640" y="322326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0" name="Shape 8"/>
          <p:cNvSpPr/>
          <p:nvPr/>
        </p:nvSpPr>
        <p:spPr>
          <a:xfrm>
            <a:off x="548640" y="3223260"/>
            <a:ext cx="91440" cy="640080"/>
          </a:xfrm>
          <a:prstGeom prst="rect">
            <a:avLst/>
          </a:prstGeom>
          <a:solidFill>
            <a:srgbClr val="6366F1"/>
          </a:solidFill>
          <a:ln/>
        </p:spPr>
      </p:sp>
      <p:sp>
        <p:nvSpPr>
          <p:cNvPr id="11" name="Text 9"/>
          <p:cNvSpPr/>
          <p:nvPr/>
        </p:nvSpPr>
        <p:spPr>
          <a:xfrm>
            <a:off x="777240" y="322326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2" name="Text 10"/>
          <p:cNvSpPr/>
          <p:nvPr/>
        </p:nvSpPr>
        <p:spPr>
          <a:xfrm>
            <a:off x="1234440" y="3223260"/>
            <a:ext cx="7132320" cy="640080"/>
          </a:xfrm>
          <a:prstGeom prst="rect">
            <a:avLst/>
          </a:prstGeom>
          <a:noFill/>
          <a:ln/>
        </p:spPr>
        <p:txBody>
          <a:bodyPr wrap="square" rtlCol="0" anchor="ctr"/>
          <a:lstStyle/>
          <a:p>
            <a:pPr indent="0" marL="0">
              <a:buNone/>
            </a:pPr>
            <a:r>
              <a:rPr lang="en-US" sz="1400" dirty="0">
                <a:solidFill>
                  <a:srgbClr val="334155"/>
                </a:solidFill>
              </a:rPr>
              <a:t>CoT: 단계별로 생각하게 해라</a:t>
            </a:r>
            <a:endParaRPr lang="en-US" sz="1400" dirty="0"/>
          </a:p>
        </p:txBody>
      </p:sp>
      <p:sp>
        <p:nvSpPr>
          <p:cNvPr id="13" name="Shape 11"/>
          <p:cNvSpPr/>
          <p:nvPr/>
        </p:nvSpPr>
        <p:spPr>
          <a:xfrm>
            <a:off x="548640" y="406908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4" name="Shape 12"/>
          <p:cNvSpPr/>
          <p:nvPr/>
        </p:nvSpPr>
        <p:spPr>
          <a:xfrm>
            <a:off x="548640" y="4069080"/>
            <a:ext cx="91440" cy="640080"/>
          </a:xfrm>
          <a:prstGeom prst="rect">
            <a:avLst/>
          </a:prstGeom>
          <a:solidFill>
            <a:srgbClr val="F59E0B"/>
          </a:solidFill>
          <a:ln/>
        </p:spPr>
      </p:sp>
      <p:sp>
        <p:nvSpPr>
          <p:cNvPr id="15" name="Text 13"/>
          <p:cNvSpPr/>
          <p:nvPr/>
        </p:nvSpPr>
        <p:spPr>
          <a:xfrm>
            <a:off x="777240" y="406908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6" name="Text 14"/>
          <p:cNvSpPr/>
          <p:nvPr/>
        </p:nvSpPr>
        <p:spPr>
          <a:xfrm>
            <a:off x="1234440" y="4069080"/>
            <a:ext cx="7132320" cy="640080"/>
          </a:xfrm>
          <a:prstGeom prst="rect">
            <a:avLst/>
          </a:prstGeom>
          <a:noFill/>
          <a:ln/>
        </p:spPr>
        <p:txBody>
          <a:bodyPr wrap="square" rtlCol="0" anchor="ctr"/>
          <a:lstStyle/>
          <a:p>
            <a:pPr indent="0" marL="0">
              <a:buNone/>
            </a:pPr>
            <a:r>
              <a:rPr lang="en-US" sz="1400" dirty="0">
                <a:solidFill>
                  <a:srgbClr val="334155"/>
                </a:solidFill>
              </a:rPr>
              <a:t>Self-Consistency: 여러 번 시도하고 종합해라</a:t>
            </a:r>
            <a:endParaRPr lang="en-US" sz="14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실습 시간</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914400"/>
          </a:xfrm>
          <a:prstGeom prst="roundRect">
            <a:avLst/>
          </a:prstGeom>
          <a:solidFill>
            <a:srgbClr val="10B981"/>
          </a:solidFill>
          <a:ln w="12700">
            <a:solidFill>
              <a:srgbClr val="10B981"/>
            </a:solidFill>
            <a:prstDash val="solid"/>
          </a:ln>
        </p:spPr>
      </p:sp>
      <p:sp>
        <p:nvSpPr>
          <p:cNvPr id="5" name="Text 3"/>
          <p:cNvSpPr/>
          <p:nvPr/>
        </p:nvSpPr>
        <p:spPr>
          <a:xfrm>
            <a:off x="731520" y="1463040"/>
            <a:ext cx="7680960" cy="914400"/>
          </a:xfrm>
          <a:prstGeom prst="rect">
            <a:avLst/>
          </a:prstGeom>
          <a:noFill/>
          <a:ln/>
        </p:spPr>
        <p:txBody>
          <a:bodyPr wrap="square" rtlCol="0" anchor="ctr"/>
          <a:lstStyle/>
          <a:p>
            <a:pPr algn="l" indent="0" marL="0">
              <a:buNone/>
            </a:pPr>
            <a:r>
              <a:rPr lang="en-US" sz="1400" dirty="0">
                <a:solidFill>
                  <a:srgbClr val="FFFFFF"/>
                </a:solidFill>
              </a:rPr>
              <a:t>Web UI를 사용하여 각 기법을 직접 실습해봅시다</a:t>
            </a:r>
            <a:endParaRPr lang="en-US" sz="1400" dirty="0"/>
          </a:p>
        </p:txBody>
      </p:sp>
      <p:sp>
        <p:nvSpPr>
          <p:cNvPr id="6" name="Text 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참고 자료</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Text 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프롬프팅 기초 2026</a:t>
            </a:r>
            <a:endParaRPr lang="en-US" sz="900" dirty="0"/>
          </a:p>
        </p:txBody>
      </p:sp>
      <p:sp>
        <p:nvSpPr>
          <p:cNvPr id="5" name="Text 3">
            <a:hlinkClick r:id="rId1" tooltip=""/>
          </p:cNvPr>
          <p:cNvSpPr/>
          <p:nvPr/>
        </p:nvSpPr>
        <p:spPr>
          <a:xfrm>
            <a:off x="731520" y="1463040"/>
            <a:ext cx="7315200" cy="457200"/>
          </a:xfrm>
          <a:prstGeom prst="rect">
            <a:avLst/>
          </a:prstGeom>
          <a:noFill/>
          <a:ln/>
        </p:spPr>
        <p:txBody>
          <a:bodyPr wrap="square" rtlCol="0" anchor="ctr"/>
          <a:lstStyle/>
          <a:p>
            <a:pPr indent="0" marL="0">
              <a:buNone/>
            </a:pPr>
            <a:r>
              <a:rPr lang="en-US" sz="2200" u="sng" dirty="0">
                <a:solidFill>
                  <a:srgbClr val="2563EB"/>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Prompt Engineering Guide</a:t>
            </a:r>
            <a:endParaRPr lang="en-US" sz="2200" dirty="0"/>
          </a:p>
        </p:txBody>
      </p:sp>
      <p:sp>
        <p:nvSpPr>
          <p:cNvPr id="6" name="Text 4">
            <a:hlinkClick r:id="rId2" tooltip=""/>
          </p:cNvPr>
          <p:cNvSpPr/>
          <p:nvPr/>
        </p:nvSpPr>
        <p:spPr>
          <a:xfrm>
            <a:off x="731520" y="2103120"/>
            <a:ext cx="7315200" cy="457200"/>
          </a:xfrm>
          <a:prstGeom prst="rect">
            <a:avLst/>
          </a:prstGeom>
          <a:noFill/>
          <a:ln/>
        </p:spPr>
        <p:txBody>
          <a:bodyPr wrap="square" rtlCol="0" anchor="ctr"/>
          <a:lstStyle/>
          <a:p>
            <a:pPr indent="0" marL="0">
              <a:buNone/>
            </a:pPr>
            <a:r>
              <a:rPr lang="en-US" sz="2200" u="sng" dirty="0">
                <a:solidFill>
                  <a:srgbClr val="2563EB"/>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Chain-of-Thought Prompting 논문</a:t>
            </a:r>
            <a:endParaRPr lang="en-US" sz="2200" dirty="0"/>
          </a:p>
        </p:txBody>
      </p:sp>
      <p:sp>
        <p:nvSpPr>
          <p:cNvPr id="7" name="Text 5">
            <a:hlinkClick r:id="rId3" tooltip=""/>
          </p:cNvPr>
          <p:cNvSpPr/>
          <p:nvPr/>
        </p:nvSpPr>
        <p:spPr>
          <a:xfrm>
            <a:off x="731520" y="2743200"/>
            <a:ext cx="7315200" cy="457200"/>
          </a:xfrm>
          <a:prstGeom prst="rect">
            <a:avLst/>
          </a:prstGeom>
          <a:noFill/>
          <a:ln/>
        </p:spPr>
        <p:txBody>
          <a:bodyPr wrap="square" rtlCol="0" anchor="ctr"/>
          <a:lstStyle/>
          <a:p>
            <a:pPr indent="0" marL="0">
              <a:buNone/>
            </a:pPr>
            <a:r>
              <a:rPr lang="en-US" sz="2200" u="sng" dirty="0">
                <a:solidFill>
                  <a:srgbClr val="2563EB"/>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Self-Consistency 논문</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프롬프팅 기초</dc:title>
  <dc:subject>PptxGenJS Presentation</dc:subject>
  <dc:creator>NXT Cloud</dc:creator>
  <cp:lastModifiedBy>NXT Cloud</cp:lastModifiedBy>
  <cp:revision>1</cp:revision>
  <dcterms:created xsi:type="dcterms:W3CDTF">2026-01-28T14:34:42Z</dcterms:created>
  <dcterms:modified xsi:type="dcterms:W3CDTF">2026-01-28T14:34:42Z</dcterms:modified>
</cp:coreProperties>
</file>